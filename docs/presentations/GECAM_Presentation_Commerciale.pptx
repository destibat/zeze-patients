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GECAM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Gestion des Cabinets MAPA ZEZEPAGNON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794760"/>
            <a:ext cx="393192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Solution SaaS de gestion médicale et commerciale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23232"/>
                </a:solidFill>
              </a:rPr>
              <a:t>Abidjan, Côte d'Ivoire  —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5C38"/>
                </a:solidFill>
              </a:rPr>
              <a:t>Les défis des cabinets MAPA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645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5778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83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411480" cy="1828800"/>
          </a:xfrm>
          <a:prstGeom prst="rect">
            <a:avLst/>
          </a:prstGeom>
          <a:solidFill>
            <a:srgbClr val="C8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286000"/>
            <a:ext cx="384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7452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321E"/>
                </a:solidFill>
              </a:rPr>
              <a:t>Dossiers papier impossibles à retrouver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Des heures perdues à chercher des fiches patient, risque d'erreurs médicales.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55778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411480" cy="1828800"/>
          </a:xfrm>
          <a:prstGeom prst="rect">
            <a:avLst/>
          </a:prstGeom>
          <a:solidFill>
            <a:srgbClr val="DC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86000"/>
            <a:ext cx="384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87452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C6E00"/>
                </a:solidFill>
              </a:rPr>
              <a:t>Suivi patient fragmenté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423160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Consultations, analyses et ordonnances dispersés, sans vision globale.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79"/>
            <a:ext cx="55778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83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79"/>
            <a:ext cx="411480" cy="1828800"/>
          </a:xfrm>
          <a:prstGeom prst="rect">
            <a:avLst/>
          </a:prstGeom>
          <a:solidFill>
            <a:srgbClr val="C8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389119"/>
            <a:ext cx="384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77639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321E"/>
                </a:solidFill>
              </a:rPr>
              <a:t>Comptabilité manuelle source d'erreurs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26279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Saisies multiples, pertes de données, bilans impossibles à produire rapidement.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840479"/>
            <a:ext cx="55778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840479"/>
            <a:ext cx="411480" cy="1828800"/>
          </a:xfrm>
          <a:prstGeom prst="rect">
            <a:avLst/>
          </a:prstGeom>
          <a:solidFill>
            <a:srgbClr val="DC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4389119"/>
            <a:ext cx="384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977639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C6E00"/>
                </a:solidFill>
              </a:rPr>
              <a:t>Bons de commande MAPA non tracés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526279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Livraisons partielles, stocks incertains, litiges avec la centrale.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5C38"/>
                </a:solidFill>
              </a:rPr>
              <a:t>GECAM, la solution tout-en-un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645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463040"/>
          </a:xfrm>
          <a:prstGeom prst="rect">
            <a:avLst/>
          </a:prstGeom>
          <a:solidFill>
            <a:srgbClr val="DCEDE4"/>
          </a:solidFill>
          <a:ln w="254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28600" cy="146304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5C38"/>
                </a:solidFill>
              </a:rPr>
              <a:t>Une seule application pour gérer votre cabinet médical,
vos ventes, votre stock et votre comptabilité MAPA.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11880" cy="1920240"/>
          </a:xfrm>
          <a:prstGeom prst="rect">
            <a:avLst/>
          </a:prstGeom>
          <a:solidFill>
            <a:srgbClr val="0D5C3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862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891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Accessible depuis n'importe quel navigateur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3657600"/>
            <a:ext cx="3611880" cy="1920240"/>
          </a:xfrm>
          <a:prstGeom prst="rect">
            <a:avLst/>
          </a:prstGeom>
          <a:solidFill>
            <a:srgbClr val="0D5C3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38862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43891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Données sécurisées sur serveur dédié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3657600"/>
            <a:ext cx="3611880" cy="1920240"/>
          </a:xfrm>
          <a:prstGeom prst="rect">
            <a:avLst/>
          </a:prstGeom>
          <a:solidFill>
            <a:srgbClr val="0D5C3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8862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43891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Mis à jour en continu sans interruption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5C38"/>
                </a:solidFill>
              </a:rPr>
              <a:t>Les 4 rôles utilisateurs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645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920240"/>
            <a:ext cx="2743200" cy="77724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Administrateur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6974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880360"/>
            <a:ext cx="252374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</a:rPr>
              <a:t>Accès complet : patients, comptabilité, BC MAPA, statistiques, paramétrage cabinet.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7832" y="1920240"/>
            <a:ext cx="2743200" cy="777240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2011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Stockiste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7832" y="26974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880360"/>
            <a:ext cx="252374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</a:rPr>
              <a:t>Gestion du stock, réception des livraisons, inventaire et alertes de rupture.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5624" y="1920240"/>
            <a:ext cx="2743200" cy="777240"/>
          </a:xfrm>
          <a:prstGeom prst="rect">
            <a:avLst/>
          </a:prstGeom>
          <a:solidFill>
            <a:srgbClr val="82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2011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Délégué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26974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23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2880360"/>
            <a:ext cx="252374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</a:rPr>
              <a:t>Ordonnances et ventes au patient, suivi des créances personnelles, commissions.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43416" y="1920240"/>
            <a:ext cx="2743200" cy="777240"/>
          </a:xfrm>
          <a:prstGeom prst="rect">
            <a:avLst/>
          </a:prstGeom>
          <a:solidFill>
            <a:srgbClr val="B4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2011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Secrétaire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43416" y="26974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2880360"/>
            <a:ext cx="252374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</a:rPr>
              <a:t>Agenda, salle d'attente, dossiers patients, facturation courante.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5C38"/>
                </a:solidFill>
              </a:rPr>
              <a:t>Dossier patient complet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645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365760"/>
            <a:ext cx="1920240" cy="502920"/>
          </a:xfrm>
          <a:prstGeom prst="rect">
            <a:avLst/>
          </a:prstGeom>
          <a:solidFill>
            <a:srgbClr val="DCEDE4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04120" y="384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5C38"/>
                </a:solidFill>
              </a:rPr>
              <a:t>MODULE PATIENTS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4864" cy="1234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737360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Fiche identité et médicale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9456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Photo, contacts, groupe sanguin, allergies, historique.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54864" cy="1234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737360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Maladies chroniques &amp; traitements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19456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Suivi actif des pathologies et des prescriptions en cours.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54864" cy="1234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200400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Rendez-vous intégrés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65760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Prise de RDV depuis le dossier, rappels automatiques.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154680"/>
            <a:ext cx="54864" cy="1234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3200400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Consultations &amp; ordonnances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65760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Compte-rendu, diagnostic, prescription, impression PDF.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17720"/>
            <a:ext cx="54864" cy="1234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663440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Analyses biologiques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12064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8 panels avec normes et graphiques d'évolution.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617720"/>
            <a:ext cx="54864" cy="1234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4663440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Fichiers joints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512064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PDF, images, comptes-rendus d'imagerie.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5C38"/>
                </a:solidFill>
              </a:rPr>
              <a:t>Analyses biologiques avec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645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2606040" cy="914400"/>
          </a:xfrm>
          <a:prstGeom prst="rect">
            <a:avLst/>
          </a:prstGeom>
          <a:solidFill>
            <a:srgbClr val="0D5C3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NFS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691640"/>
            <a:ext cx="2606040" cy="914400"/>
          </a:xfrm>
          <a:prstGeom prst="rect">
            <a:avLst/>
          </a:prstGeom>
          <a:solidFill>
            <a:srgbClr val="0D5C3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8745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Rénal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691640"/>
            <a:ext cx="2606040" cy="914400"/>
          </a:xfrm>
          <a:prstGeom prst="rect">
            <a:avLst/>
          </a:prstGeom>
          <a:solidFill>
            <a:srgbClr val="0D5C3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8745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Glycémie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1691640"/>
            <a:ext cx="2606040" cy="914400"/>
          </a:xfrm>
          <a:prstGeom prst="rect">
            <a:avLst/>
          </a:prstGeom>
          <a:solidFill>
            <a:srgbClr val="0D5C3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8745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Lipidique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788920"/>
            <a:ext cx="2606040" cy="914400"/>
          </a:xfrm>
          <a:prstGeom prst="rect">
            <a:avLst/>
          </a:prstGeom>
          <a:solidFill>
            <a:srgbClr val="0D5C3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718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Ionogramme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788920"/>
            <a:ext cx="2606040" cy="914400"/>
          </a:xfrm>
          <a:prstGeom prst="rect">
            <a:avLst/>
          </a:prstGeom>
          <a:solidFill>
            <a:srgbClr val="0D5C3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9718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Hépatique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788920"/>
            <a:ext cx="2606040" cy="914400"/>
          </a:xfrm>
          <a:prstGeom prst="rect">
            <a:avLst/>
          </a:prstGeom>
          <a:solidFill>
            <a:srgbClr val="0D5C3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9718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Thyroïdien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2788920"/>
            <a:ext cx="2606040" cy="914400"/>
          </a:xfrm>
          <a:prstGeom prst="rect">
            <a:avLst/>
          </a:prstGeom>
          <a:solidFill>
            <a:srgbClr val="0D5C3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29718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Coagulation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77639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77639"/>
            <a:ext cx="3611880" cy="411480"/>
          </a:xfrm>
          <a:prstGeom prst="rect">
            <a:avLst/>
          </a:prstGeom>
          <a:solidFill>
            <a:srgbClr val="DC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023359"/>
            <a:ext cx="3392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5C38"/>
                </a:solidFill>
              </a:rPr>
              <a:t>Upload PDF /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480559"/>
            <a:ext cx="3392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Extraction automatique par 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3977639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15968" y="3977639"/>
            <a:ext cx="3611880" cy="411480"/>
          </a:xfrm>
          <a:prstGeom prst="rect">
            <a:avLst/>
          </a:prstGeom>
          <a:solidFill>
            <a:srgbClr val="DC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4023359"/>
            <a:ext cx="3392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5C38"/>
                </a:solidFill>
              </a:rPr>
              <a:t>Saisie manuelle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4480559"/>
            <a:ext cx="3392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Formulaire structuré par panel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74736" y="3977639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74736" y="3977639"/>
            <a:ext cx="3611880" cy="411480"/>
          </a:xfrm>
          <a:prstGeom prst="rect">
            <a:avLst/>
          </a:prstGeom>
          <a:solidFill>
            <a:srgbClr val="DC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4023359"/>
            <a:ext cx="3392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5C38"/>
                </a:solidFill>
              </a:rPr>
              <a:t>Graphique évolution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480559"/>
            <a:ext cx="3392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Courbes sur plusieurs 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5C38"/>
                </a:solidFill>
              </a:rPr>
              <a:t>Agenda médical avancé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645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365760"/>
            <a:ext cx="1920240" cy="502920"/>
          </a:xfrm>
          <a:prstGeom prst="rect">
            <a:avLst/>
          </a:prstGeom>
          <a:solidFill>
            <a:srgbClr val="DCEDE4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04120" y="384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5C38"/>
                </a:solidFill>
              </a:rPr>
              <a:t>MODULE 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Vue semaine &amp; vue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Navigation fluide, densité adaptée, impression du planning.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365760" cy="36576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614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8833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5 types de RDV colorés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99816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Consultation, urgence, suivi, contrôle, autre — code couleur instantané.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30752"/>
            <a:ext cx="365760" cy="36576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1246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393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Salle d'attente auto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507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Patient arrivé → passe automatiquement en attente, visible par le médecin.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81728"/>
            <a:ext cx="365760" cy="36576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663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9028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Statut en 1 clic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0176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Planifié → Présent → En consultation → Terminé.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32704"/>
            <a:ext cx="365760" cy="36576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61441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54126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Lien dossier patient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952744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Accès direct au dossier depuis le RDV, historique complet à portée.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5C38"/>
                </a:solidFill>
              </a:rPr>
              <a:t>Ventes, stock et facturation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645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92640" y="365760"/>
            <a:ext cx="2286000" cy="502920"/>
          </a:xfrm>
          <a:prstGeom prst="rect">
            <a:avLst/>
          </a:prstGeom>
          <a:solidFill>
            <a:srgbClr val="DCEDE4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384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5C38"/>
                </a:solidFill>
              </a:rPr>
              <a:t>MODULE COMMERCIAL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394960" cy="457200"/>
          </a:xfrm>
          <a:prstGeom prst="rect">
            <a:avLst/>
          </a:prstGeom>
          <a:solidFill>
            <a:srgbClr val="DC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737360"/>
            <a:ext cx="5175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5C38"/>
                </a:solidFill>
              </a:rPr>
              <a:t>Ordonnances avec stock délégué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40280"/>
            <a:ext cx="51755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Chaque délégué dispose de son stock propre, ventes tracées.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91640"/>
            <a:ext cx="5394960" cy="457200"/>
          </a:xfrm>
          <a:prstGeom prst="rect">
            <a:avLst/>
          </a:prstGeom>
          <a:solidFill>
            <a:srgbClr val="DC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737360"/>
            <a:ext cx="5175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5C38"/>
                </a:solidFill>
              </a:rPr>
              <a:t>Facturation patients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240280"/>
            <a:ext cx="51755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Édition de factures, reçus, paiements partiels, solde dû.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5394960" cy="457200"/>
          </a:xfrm>
          <a:prstGeom prst="rect">
            <a:avLst/>
          </a:prstGeom>
          <a:solidFill>
            <a:srgbClr val="DC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429000"/>
            <a:ext cx="5175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5C38"/>
                </a:solidFill>
              </a:rPr>
              <a:t>Suivi des créances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931920"/>
            <a:ext cx="51755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Tableau de bord des impayés par patient et par délégué.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38328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383280"/>
            <a:ext cx="5394960" cy="457200"/>
          </a:xfrm>
          <a:prstGeom prst="rect">
            <a:avLst/>
          </a:prstGeom>
          <a:solidFill>
            <a:srgbClr val="DC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429000"/>
            <a:ext cx="5175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5C38"/>
                </a:solidFill>
              </a:rPr>
              <a:t>Prêts et emprunts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931920"/>
            <a:ext cx="51755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Gestion des mouvements de produits entre acteurs du réseau.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507492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0" y="5074920"/>
            <a:ext cx="5394960" cy="457200"/>
          </a:xfrm>
          <a:prstGeom prst="rect">
            <a:avLst/>
          </a:prstGeom>
          <a:solidFill>
            <a:srgbClr val="DC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3008" y="5120640"/>
            <a:ext cx="5175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5C38"/>
                </a:solidFill>
              </a:rPr>
              <a:t>Statistiques de vente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5623560"/>
            <a:ext cx="51755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CA par période, par produit, par délégué — export possible.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5C38"/>
                </a:solidFill>
              </a:rPr>
              <a:t>Bons de Commande MAPA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645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92640" y="365760"/>
            <a:ext cx="2286000" cy="502920"/>
          </a:xfrm>
          <a:prstGeom prst="rect">
            <a:avLst/>
          </a:prstGeom>
          <a:solidFill>
            <a:srgbClr val="DCEDE4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384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5C38"/>
                </a:solidFill>
              </a:rPr>
              <a:t>MODULE BC MAPA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828800"/>
            <a:ext cx="731520" cy="731520"/>
          </a:xfrm>
          <a:prstGeom prst="rect">
            <a:avLst/>
          </a:prstGeom>
          <a:solidFill>
            <a:srgbClr val="0D5C3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2743200" cy="59436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791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CRÉER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383280"/>
            <a:ext cx="25237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</a:rPr>
              <a:t>Brouillon modifiable,
lignes produits MAPA,
choix cabinet.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3337560"/>
            <a:ext cx="731520" cy="182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AF37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19" y="1828800"/>
            <a:ext cx="731520" cy="731520"/>
          </a:xfrm>
          <a:prstGeom prst="rect">
            <a:avLst/>
          </a:prstGeom>
          <a:solidFill>
            <a:srgbClr val="0D5C3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19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2651760"/>
            <a:ext cx="2743200" cy="59436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79" y="26791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ENVOYER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32461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7" y="3383280"/>
            <a:ext cx="25237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</a:rPr>
              <a:t>PDF officiel généré,
statut 'envoyé',
traçabilité complète.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39" y="3337560"/>
            <a:ext cx="731520" cy="182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19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AF37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59" y="1828800"/>
            <a:ext cx="731520" cy="731520"/>
          </a:xfrm>
          <a:prstGeom prst="rect">
            <a:avLst/>
          </a:prstGeom>
          <a:solidFill>
            <a:srgbClr val="0D5C3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59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2651760"/>
            <a:ext cx="2743200" cy="59436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9" y="26791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RÉCEPTIONNER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19" y="32461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7" y="3383280"/>
            <a:ext cx="25237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</a:rPr>
              <a:t>Stock mis à jour,
livraison partielle gérée,
Bon de réception PDF.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solidFill>
            <a:srgbClr val="DCEDE4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150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5C38"/>
                </a:solidFill>
              </a:rPr>
              <a:t>✓ Annulation possible (brouillon ou envoyé)   ✓ Suivi livraison partielle — reliquats gérés   ✓ PDF bon de réception officiel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5C38"/>
                </a:solidFill>
              </a:rPr>
              <a:t>Comptabilité MAPA simplifiée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645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0" y="365760"/>
            <a:ext cx="2560320" cy="502920"/>
          </a:xfrm>
          <a:prstGeom prst="rect">
            <a:avLst/>
          </a:prstGeom>
          <a:solidFill>
            <a:srgbClr val="DCEDE4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3840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5C38"/>
                </a:solidFill>
              </a:rPr>
              <a:t>MODULE COMPTABILITÉ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4864" cy="1325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Exercices comptables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Ouvrir, gérer, clôturer un exercice en quelques clics.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4864" cy="1325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Bilan PDF automatique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Génération du bilan complet de l'exercice en PDF imprimable.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54864" cy="1325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Commissions automatiques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947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Calcul des commissions délégués sur les ventes réalisées.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246120"/>
            <a:ext cx="54864" cy="1325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29184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Mouvements financiers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947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Encaissements, décaissements, rapprochements.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00600"/>
            <a:ext cx="54864" cy="1325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4632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Tableau de bord comptable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Vision instantanée du CA, des charges et du résultat.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4800600"/>
            <a:ext cx="54864" cy="1325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84632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5C38"/>
                </a:solidFill>
              </a:rPr>
              <a:t>Multi-exercices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3492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Historique de tous les exercices, comparaisons annuelles.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5C38"/>
                </a:solidFill>
              </a:rPr>
              <a:t>Tableau de bord en temps réel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645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2651760" cy="118872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Patients actifs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7832" y="1691640"/>
            <a:ext cx="2651760" cy="1188720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18745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Consultations/jour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9904" y="1691640"/>
            <a:ext cx="2651760" cy="1188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1344" y="18745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CA exercice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51976" y="1691640"/>
            <a:ext cx="2651760" cy="1188720"/>
          </a:xfrm>
          <a:prstGeom prst="rect">
            <a:avLst/>
          </a:prstGeom>
          <a:solidFill>
            <a:srgbClr val="C8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8745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Alertes stock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228600" cy="146304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35584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5C38"/>
                </a:solidFill>
              </a:rPr>
              <a:t>Exercice en cours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904488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Solde, recettes et dépenses du jour.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24612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246120"/>
            <a:ext cx="228600" cy="146304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335584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5C38"/>
                </a:solidFill>
              </a:rPr>
              <a:t>Commandes MAPA en attente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904488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Liste des BC non réceptionnés.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9204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892040"/>
            <a:ext cx="228600" cy="146304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00176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5C38"/>
                </a:solidFill>
              </a:rPr>
              <a:t>Créances patients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550408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Montant total dû, liste des débiteurs.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89204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892040"/>
            <a:ext cx="228600" cy="146304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500176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5C38"/>
                </a:solidFill>
              </a:rPr>
              <a:t>Alertes &amp; rappels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5550408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</a:rPr>
              <a:t>Stock sous seuil, RDV du jour, tâches en retard.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5C38"/>
                </a:solidFill>
              </a:rPr>
              <a:t>Un abonnement simple par cabinet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645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1033272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91640"/>
            <a:ext cx="10332720" cy="59436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19072"/>
            <a:ext cx="10149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Ce que comprend votre abonnement GECAM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578608"/>
            <a:ext cx="320040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5603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4688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23232"/>
                </a:solidFill>
              </a:rPr>
              <a:t>Accès illimité à tous les modules (patients, agenda, comptabilité, BC MAPA…)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328416"/>
            <a:ext cx="320040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31012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218688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23232"/>
                </a:solidFill>
              </a:rPr>
              <a:t>Votre sous-domaine dédié :  nom-cabinet.zezepagnon.solutions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078224"/>
            <a:ext cx="320040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4059936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968496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23232"/>
                </a:solidFill>
              </a:rPr>
              <a:t>Données isolées et sécurisées — aucun partage entre cabinets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828032"/>
            <a:ext cx="320040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4809744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718304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23232"/>
                </a:solidFill>
              </a:rPr>
              <a:t>Mises à jour automatiques — nouvelles fonctionnalités sans surcoût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577840"/>
            <a:ext cx="320040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5559552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46811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23232"/>
                </a:solidFill>
              </a:rPr>
              <a:t>Support technique inclus — assistance réactive par l'équipe ZEZEPAGNON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D5C38"/>
                </a:solidFill>
              </a:rPr>
              <a:t>Cabinets clients actuels : ZEZEPAGNON Racines d'Afrique · ZEZEPAGNON Pharmacopée Africaine · CIDIA ZEZEPAGNON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5C38"/>
                </a:solidFill>
              </a:rPr>
              <a:t>Opérationnel en 48h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645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1828800"/>
            <a:ext cx="1005840" cy="1005840"/>
          </a:xfrm>
          <a:prstGeom prst="rect">
            <a:avLst/>
          </a:prstGeom>
          <a:solidFill>
            <a:srgbClr val="0D5C38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926080"/>
            <a:ext cx="2651760" cy="64008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95351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Signature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661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3703319"/>
            <a:ext cx="24323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</a:rPr>
              <a:t>Contrat d'abonnement et paramètres du cabinet.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6392" y="3108960"/>
            <a:ext cx="274320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96512" y="1828800"/>
            <a:ext cx="1005840" cy="1005840"/>
          </a:xfrm>
          <a:prstGeom prst="rect">
            <a:avLst/>
          </a:prstGeom>
          <a:solidFill>
            <a:srgbClr val="0D5C38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6512" y="196596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3552" y="2926080"/>
            <a:ext cx="2651760" cy="64008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3552" y="295351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Configuration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35661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3703319"/>
            <a:ext cx="24323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</a:rPr>
              <a:t>Création du sous-domaine, paramétrage produits MAPA, utilisateurs.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4184" y="3108960"/>
            <a:ext cx="274320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04304" y="1828800"/>
            <a:ext cx="1005840" cy="1005840"/>
          </a:xfrm>
          <a:prstGeom prst="rect">
            <a:avLst/>
          </a:prstGeom>
          <a:solidFill>
            <a:srgbClr val="0D5C38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4304" y="196596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2926080"/>
            <a:ext cx="2651760" cy="64008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295351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Formation équipe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1344" y="35661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3703319"/>
            <a:ext cx="24323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</a:rPr>
              <a:t>Session de formation dédiée (présentiel ou distanciel).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51976" y="3108960"/>
            <a:ext cx="274320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12096" y="1828800"/>
            <a:ext cx="1005840" cy="1005840"/>
          </a:xfrm>
          <a:prstGeom prst="rect">
            <a:avLst/>
          </a:prstGeom>
          <a:solidFill>
            <a:srgbClr val="0D5C38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12096" y="196596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89136" y="2926080"/>
            <a:ext cx="2651760" cy="64008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295351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Go live 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89136" y="35661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3703319"/>
            <a:ext cx="24323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</a:rPr>
              <a:t>Le cabinet est opérationnel. Support actif la première semaine.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0" y="640080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</a:rPr>
              <a:t>De la signature au premier patient enregistré : 48 heures chrono.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</a:rPr>
              <a:t>Contactez-nous pour une démonstration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737360"/>
            <a:ext cx="576072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ZEZEPAGNON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3288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Abidjan, Côte d'Ivoire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99816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66744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F37"/>
                </a:solidFill>
              </a:rPr>
              <a:t>zezepagnon@gmail.com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3367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F37"/>
                </a:solidFill>
              </a:rPr>
              <a:t>gecam.zezepagnon.solutions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3 cabinets MAPA nous font déjà confiance — Rejoignez le réseau GECAM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